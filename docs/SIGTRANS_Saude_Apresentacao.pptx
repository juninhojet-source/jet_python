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projeto do sistema de transporte de pacientes desenvolvido pela própria TI da Prefeitura.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Situação atual: processo em papel, retrabalho, sem controle de lotação e fila sem senha. É a dor que o sistema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sistema em uma frase: web, único, do cadastro ao BPA. Quatro ganhos-chave: cadastro único, menos retrabalho, controle de lotação e rastreabilidade.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alvo: Senha, Cadastro, Agendamento, Cartão de Embarque, Mapa de Viagem, Embarque, Relatório do BPA. Cada etapa aproveita os dados da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Benefício concreto por perfil: atendente, coordenação, motorista e paciente. Todos ganham com a informatização.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dos módulos. O painel de senhas e o relatório do BPA são destaques pedidos pela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Tranquilizar sobre segurança: dados no servidor da Prefeitura, acesso controlado, auditoria, backup. Conformidade com a LGPD.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fases. O importante: valor cedo — na fase 2 o papel da marcação já é substituído.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passos: validar o escopo, iniciar o desenvolvimento pela Fase 1 e treinar as equipes.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Reforçar o propósito: um serviço mais organizado, seguro e humano para o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4206240" cy="4206240"/>
          </a:xfrm>
          <a:prstGeom prst="ellipse">
            <a:avLst/>
          </a:prstGeom>
          <a:solidFill>
            <a:srgbClr val="037E8F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206240"/>
            <a:ext cx="3291840" cy="3291840"/>
          </a:xfrm>
          <a:prstGeom prst="ellipse">
            <a:avLst/>
          </a:prstGeom>
          <a:solidFill>
            <a:srgbClr val="00A78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937760"/>
            <a:ext cx="2926080" cy="2926080"/>
          </a:xfrm>
          <a:prstGeom prst="ellipse">
            <a:avLst/>
          </a:prstGeom>
          <a:solidFill>
            <a:srgbClr val="16C79A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60120"/>
            <a:ext cx="841248" cy="841248"/>
          </a:xfrm>
          <a:prstGeom prst="ellipse">
            <a:avLst/>
          </a:prstGeom>
          <a:solidFill>
            <a:srgbClr val="16C7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684" y="1178844"/>
            <a:ext cx="403799" cy="4037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BARÃO DE COCAIS · MG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SIGTRANS Saúde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de Transporte de Pacientes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projeto — Secretaria Municipal de Saúde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Tecnologia da Informação  ·  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46304" cy="14630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 hoje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rotina de marcação do transporte é feita em papel, o que gera retrabalho e dificulta o controle.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2615184" cy="3291840"/>
          </a:xfrm>
          <a:prstGeom prst="roundRect">
            <a:avLst>
              <a:gd name="adj" fmla="val 4196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834640"/>
            <a:ext cx="822960" cy="82296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970" y="304861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8404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no papel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4343400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marcação, planilha da van e cartão de embarque preenchidos à mão.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48456" y="2514600"/>
            <a:ext cx="2615184" cy="3291840"/>
          </a:xfrm>
          <a:prstGeom prst="roundRect">
            <a:avLst>
              <a:gd name="adj" fmla="val 4196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68496" y="2834640"/>
            <a:ext cx="822960" cy="82296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466" y="304861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22776" y="38404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Redigitação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922776" y="4343400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dados são copiados várias vezes — inclusive para o BPA.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73952" y="2514600"/>
            <a:ext cx="2615184" cy="3291840"/>
          </a:xfrm>
          <a:prstGeom prst="roundRect">
            <a:avLst>
              <a:gd name="adj" fmla="val 4196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93992" y="2834640"/>
            <a:ext cx="822960" cy="82296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962" y="304861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48272" y="38404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controle de lotação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748272" y="4343400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agendar mais pacientes do que a van comporta.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299448" y="2514600"/>
            <a:ext cx="2615184" cy="3291840"/>
          </a:xfrm>
          <a:prstGeom prst="roundRect">
            <a:avLst>
              <a:gd name="adj" fmla="val 4196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619488" y="2834640"/>
            <a:ext cx="822960" cy="82296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3458" y="304861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73768" y="38404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sem organização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573768" y="4343400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por ordem de chegada, sem painel de senhas.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46304" cy="14630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SIGTRANS Saúde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3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único</a:t>
            </a:r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informatiza todo o transporte de pacientes — do cadastro ao relatório do BPA — em uma só ferramenta, acessada pelo navegador em computadores e tablets.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3191256"/>
            <a:ext cx="457200" cy="45720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3154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único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37360" y="35935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paciente é cadastrado uma vez. O sistema evita duplicidade e já guarda os dados do BPA.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88036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6248" y="3191256"/>
            <a:ext cx="457200" cy="45720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3154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retrabalho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78040" y="35935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Preencheu uma vez, aproveita em todo lugar: cartão, mapa da van e relatórios.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736592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5047488"/>
            <a:ext cx="457200" cy="45720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5010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automático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544982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lotação da van é controlada pelo sistema; quem excede vai para a lista de espera.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4736592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6248" y="5047488"/>
            <a:ext cx="457200" cy="45720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5010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registrado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78040" y="544982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tudo o que foi feito, por quem e quando — com segurança e conformidade à LGPD.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46304" cy="14630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vai funcionar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fluxo simples e contínuo, do atendimento até o relatório do BPA.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19279" y="3566160"/>
            <a:ext cx="9350393" cy="0"/>
          </a:xfrm>
          <a:prstGeom prst="line">
            <a:avLst/>
          </a:prstGeom>
          <a:noFill/>
          <a:ln w="25400">
            <a:solidFill>
              <a:srgbClr val="00A78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16359" y="3063240"/>
            <a:ext cx="1005840" cy="100584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878" y="3324758"/>
            <a:ext cx="482803" cy="482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0639" y="2898648"/>
            <a:ext cx="384048" cy="384048"/>
          </a:xfrm>
          <a:prstGeom prst="rect">
            <a:avLst/>
          </a:prstGeom>
          <a:solidFill>
            <a:srgbClr val="16C7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155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544568"/>
            <a:ext cx="1558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organizada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74758" y="3063240"/>
            <a:ext cx="1005840" cy="1005840"/>
          </a:xfrm>
          <a:prstGeom prst="ellipse">
            <a:avLst/>
          </a:prstGeom>
          <a:solidFill>
            <a:srgbClr val="00A78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277" y="3324758"/>
            <a:ext cx="482803" cy="482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29038" y="2898648"/>
            <a:ext cx="384048" cy="384048"/>
          </a:xfrm>
          <a:prstGeom prst="rect">
            <a:avLst/>
          </a:prstGeom>
          <a:solidFill>
            <a:srgbClr val="16C7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198479" y="4206240"/>
            <a:ext cx="155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198479" y="4544568"/>
            <a:ext cx="1558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único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033157" y="3063240"/>
            <a:ext cx="1005840" cy="100584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676" y="3324758"/>
            <a:ext cx="482803" cy="482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87437" y="2898648"/>
            <a:ext cx="384048" cy="384048"/>
          </a:xfrm>
          <a:prstGeom prst="rect">
            <a:avLst/>
          </a:prstGeom>
          <a:solidFill>
            <a:srgbClr val="16C7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756878" y="4206240"/>
            <a:ext cx="155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756878" y="4544568"/>
            <a:ext cx="1558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 e vaga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591556" y="3063240"/>
            <a:ext cx="1005840" cy="1005840"/>
          </a:xfrm>
          <a:prstGeom prst="ellipse">
            <a:avLst/>
          </a:prstGeom>
          <a:solidFill>
            <a:srgbClr val="00A78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074" y="3324758"/>
            <a:ext cx="482803" cy="482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45836" y="2898648"/>
            <a:ext cx="384048" cy="384048"/>
          </a:xfrm>
          <a:prstGeom prst="rect">
            <a:avLst/>
          </a:prstGeom>
          <a:solidFill>
            <a:srgbClr val="16C7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315277" y="4206240"/>
            <a:ext cx="155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315277" y="4544568"/>
            <a:ext cx="1558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na hora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149955" y="3063240"/>
            <a:ext cx="1005840" cy="100584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473" y="3324758"/>
            <a:ext cx="482803" cy="48280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04235" y="2898648"/>
            <a:ext cx="384048" cy="384048"/>
          </a:xfrm>
          <a:prstGeom prst="rect">
            <a:avLst/>
          </a:prstGeom>
          <a:solidFill>
            <a:srgbClr val="16C7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873675" y="4206240"/>
            <a:ext cx="155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viagem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873675" y="4544568"/>
            <a:ext cx="1558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motorista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708354" y="3063240"/>
            <a:ext cx="1005840" cy="1005840"/>
          </a:xfrm>
          <a:prstGeom prst="ellipse">
            <a:avLst/>
          </a:prstGeom>
          <a:solidFill>
            <a:srgbClr val="00A78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9872" y="3324758"/>
            <a:ext cx="482803" cy="48280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662634" y="2898648"/>
            <a:ext cx="384048" cy="384048"/>
          </a:xfrm>
          <a:prstGeom prst="rect">
            <a:avLst/>
          </a:prstGeom>
          <a:solidFill>
            <a:srgbClr val="16C7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432074" y="4206240"/>
            <a:ext cx="155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Embarque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8432074" y="4544568"/>
            <a:ext cx="1558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e horários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10266753" y="3063240"/>
            <a:ext cx="1005840" cy="100584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8271" y="3324758"/>
            <a:ext cx="482803" cy="48280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221033" y="2898648"/>
            <a:ext cx="384048" cy="384048"/>
          </a:xfrm>
          <a:prstGeom prst="rect">
            <a:avLst/>
          </a:prstGeom>
          <a:solidFill>
            <a:srgbClr val="16C7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9990473" y="4206240"/>
            <a:ext cx="155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BPA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9990473" y="4544568"/>
            <a:ext cx="1558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digitar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46304" cy="14630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dia a dia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468880"/>
            <a:ext cx="960120" cy="96012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715768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23957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Atendente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331720" y="285292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e agenda em uma tela; emite o cartão de embarque com um clique.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468880"/>
            <a:ext cx="960120" cy="960120"/>
          </a:xfrm>
          <a:prstGeom prst="ellipse">
            <a:avLst/>
          </a:prstGeom>
          <a:solidFill>
            <a:srgbClr val="00A78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715768"/>
            <a:ext cx="466344" cy="4663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0" y="23957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772400" y="285292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 viagens, ocupação e faltas; extrai relatórios prontos.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2960" y="416052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43000" y="4617720"/>
            <a:ext cx="960120" cy="96012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4864608"/>
            <a:ext cx="466344" cy="4663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331720" y="4544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331720" y="500176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mapa da viagem com a lista completa de passageiros.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263640" y="416052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0" y="4617720"/>
            <a:ext cx="960120" cy="960120"/>
          </a:xfrm>
          <a:prstGeom prst="ellipse">
            <a:avLst/>
          </a:prstGeom>
          <a:solidFill>
            <a:srgbClr val="00A78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4864608"/>
            <a:ext cx="466344" cy="4663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0" y="4544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772400" y="500176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um cartão claro, com orientação de confirmação da viagem.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46304" cy="14630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recursos do sistema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7632" y="2286000"/>
            <a:ext cx="1005840" cy="1005840"/>
          </a:xfrm>
          <a:prstGeom prst="ellipse">
            <a:avLst/>
          </a:prstGeom>
          <a:solidFill>
            <a:srgbClr val="D6EC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150" y="254751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375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pacientes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48456" y="196596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53128" y="2286000"/>
            <a:ext cx="1005840" cy="1005840"/>
          </a:xfrm>
          <a:prstGeom prst="ellipse">
            <a:avLst/>
          </a:prstGeom>
          <a:solidFill>
            <a:srgbClr val="D6EC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54751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31336" y="33375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e lotação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73952" y="196596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78624" y="2286000"/>
            <a:ext cx="1005840" cy="1005840"/>
          </a:xfrm>
          <a:prstGeom prst="ellipse">
            <a:avLst/>
          </a:prstGeom>
          <a:solidFill>
            <a:srgbClr val="D6ECE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142" y="2547518"/>
            <a:ext cx="482803" cy="482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56832" y="33375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Motoristas e viagens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9299448" y="196596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104120" y="2286000"/>
            <a:ext cx="1005840" cy="1005840"/>
          </a:xfrm>
          <a:prstGeom prst="ellipse">
            <a:avLst/>
          </a:prstGeom>
          <a:solidFill>
            <a:srgbClr val="D6ECE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5638" y="2547518"/>
            <a:ext cx="482803" cy="48280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482328" y="33375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viagem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22960" y="4142232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627632" y="4462272"/>
            <a:ext cx="1005840" cy="1005840"/>
          </a:xfrm>
          <a:prstGeom prst="ellipse">
            <a:avLst/>
          </a:prstGeom>
          <a:solidFill>
            <a:srgbClr val="D6ECE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9150" y="4723790"/>
            <a:ext cx="482803" cy="48280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551383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senhas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3648456" y="4142232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53128" y="4462272"/>
            <a:ext cx="1005840" cy="1005840"/>
          </a:xfrm>
          <a:prstGeom prst="ellipse">
            <a:avLst/>
          </a:prstGeom>
          <a:solidFill>
            <a:srgbClr val="D6ECE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646" y="4723790"/>
            <a:ext cx="482803" cy="48280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31336" y="551383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e relatórios (PDF/Excel)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473952" y="4142232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278624" y="4462272"/>
            <a:ext cx="1005840" cy="1005840"/>
          </a:xfrm>
          <a:prstGeom prst="ellipse">
            <a:avLst/>
          </a:prstGeom>
          <a:solidFill>
            <a:srgbClr val="D6ECEA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0142" y="4723790"/>
            <a:ext cx="482803" cy="48280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656832" y="551383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rápida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9299448" y="4142232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10104120" y="4462272"/>
            <a:ext cx="1005840" cy="1005840"/>
          </a:xfrm>
          <a:prstGeom prst="ellipse">
            <a:avLst/>
          </a:prstGeom>
          <a:solidFill>
            <a:srgbClr val="D6ECEA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5638" y="4723790"/>
            <a:ext cx="482803" cy="48280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482328" y="551383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indicadores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46304" cy="14630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 proteção de dados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saúde são sensíveis. O sistema é construído em conformidade com a LGPD.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2615184" cy="3108960"/>
          </a:xfrm>
          <a:prstGeom prst="roundRect">
            <a:avLst>
              <a:gd name="adj" fmla="val 4196"/>
            </a:avLst>
          </a:prstGeom>
          <a:solidFill>
            <a:srgbClr val="0C3A45"/>
          </a:solidFill>
          <a:ln w="12700">
            <a:solidFill>
              <a:srgbClr val="1451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926080"/>
            <a:ext cx="822960" cy="82296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970" y="314005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8862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da Prefeitura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97280" y="4480560"/>
            <a:ext cx="2066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ficam no datacenter do município — sem nuvem pública.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48456" y="2606040"/>
            <a:ext cx="2615184" cy="3108960"/>
          </a:xfrm>
          <a:prstGeom prst="roundRect">
            <a:avLst>
              <a:gd name="adj" fmla="val 4196"/>
            </a:avLst>
          </a:prstGeom>
          <a:solidFill>
            <a:srgbClr val="0C3A45"/>
          </a:solidFill>
          <a:ln w="12700">
            <a:solidFill>
              <a:srgbClr val="1451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68496" y="2926080"/>
            <a:ext cx="822960" cy="822960"/>
          </a:xfrm>
          <a:prstGeom prst="ellipse">
            <a:avLst/>
          </a:prstGeom>
          <a:solidFill>
            <a:srgbClr val="00A78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466" y="314005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22776" y="38862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controlado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922776" y="4480560"/>
            <a:ext cx="2066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individual e permissão por perfil; senhas sempre criptografadas.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73952" y="2606040"/>
            <a:ext cx="2615184" cy="3108960"/>
          </a:xfrm>
          <a:prstGeom prst="roundRect">
            <a:avLst>
              <a:gd name="adj" fmla="val 4196"/>
            </a:avLst>
          </a:prstGeom>
          <a:solidFill>
            <a:srgbClr val="0C3A45"/>
          </a:solidFill>
          <a:ln w="12700">
            <a:solidFill>
              <a:srgbClr val="14515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93992" y="2926080"/>
            <a:ext cx="822960" cy="82296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962" y="314005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48272" y="38862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completa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748272" y="4480560"/>
            <a:ext cx="2066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quem fez o quê e quando, com valor anterior e novo.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299448" y="2606040"/>
            <a:ext cx="2615184" cy="3108960"/>
          </a:xfrm>
          <a:prstGeom prst="roundRect">
            <a:avLst>
              <a:gd name="adj" fmla="val 4196"/>
            </a:avLst>
          </a:prstGeom>
          <a:solidFill>
            <a:srgbClr val="0C3A45"/>
          </a:solidFill>
          <a:ln w="12700">
            <a:solidFill>
              <a:srgbClr val="14515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619488" y="2926080"/>
            <a:ext cx="822960" cy="822960"/>
          </a:xfrm>
          <a:prstGeom prst="ellipse">
            <a:avLst/>
          </a:prstGeom>
          <a:solidFill>
            <a:srgbClr val="00A78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3458" y="314005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73768" y="38862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 continuidade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573768" y="4480560"/>
            <a:ext cx="2066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Cópias de segurança automáticas e restauração quando necessário.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46304" cy="14630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DE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vamos construir — por etapas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em fases, com valor prático já nas primeiras etapas.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77263" y="3291840"/>
            <a:ext cx="8434426" cy="0"/>
          </a:xfrm>
          <a:prstGeom prst="line">
            <a:avLst/>
          </a:prstGeom>
          <a:noFill/>
          <a:ln w="25400">
            <a:solidFill>
              <a:srgbClr val="CFE3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0063" y="2834640"/>
            <a:ext cx="914400" cy="914400"/>
          </a:xfrm>
          <a:prstGeom prst="ellipse">
            <a:avLst/>
          </a:prstGeom>
          <a:solidFill>
            <a:srgbClr val="037E8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0063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1925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e cadastros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32688" y="4526280"/>
            <a:ext cx="18891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Pacientes, veículos, motoristas e acessos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28670" y="2834640"/>
            <a:ext cx="914400" cy="914400"/>
          </a:xfrm>
          <a:prstGeom prst="ellipse">
            <a:avLst/>
          </a:prstGeom>
          <a:solidFill>
            <a:srgbClr val="037E8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867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023006" y="3931920"/>
            <a:ext cx="1925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operacional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41294" y="4526280"/>
            <a:ext cx="18891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Agendamento, cartão de embarque e mapa da viagem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37276" y="2834640"/>
            <a:ext cx="914400" cy="914400"/>
          </a:xfrm>
          <a:prstGeom prst="ellipse">
            <a:avLst/>
          </a:prstGeom>
          <a:solidFill>
            <a:srgbClr val="00A78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37276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131613" y="3931920"/>
            <a:ext cx="1925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senhas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49901" y="4526280"/>
            <a:ext cx="18891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organizada e painel de TV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45882" y="2834640"/>
            <a:ext cx="914400" cy="914400"/>
          </a:xfrm>
          <a:prstGeom prst="ellipse">
            <a:avLst/>
          </a:prstGeom>
          <a:solidFill>
            <a:srgbClr val="00A78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45882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240219" y="3931920"/>
            <a:ext cx="1925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painel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58507" y="4526280"/>
            <a:ext cx="18891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BPA, pesquisa e indicadores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54489" y="2834640"/>
            <a:ext cx="914400" cy="914400"/>
          </a:xfrm>
          <a:prstGeom prst="ellipse">
            <a:avLst/>
          </a:prstGeom>
          <a:solidFill>
            <a:srgbClr val="00A78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54489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348826" y="3931920"/>
            <a:ext cx="1925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treinamento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67114" y="4526280"/>
            <a:ext cx="18891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LGPD, backup e capacitação da equipe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194560" y="5806440"/>
            <a:ext cx="7772400" cy="566928"/>
          </a:xfrm>
          <a:prstGeom prst="roundRect">
            <a:avLst>
              <a:gd name="adj" fmla="val 50000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5806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3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Marco: </a:t>
            </a:r>
            <a:pPr algn="ctr" indent="0" marL="0">
              <a:buNone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da Fase 2, o dia a dia já roda no sistema — sem papel na marcação.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46304" cy="14630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AGORA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511296" cy="3017520"/>
          </a:xfrm>
          <a:prstGeom prst="roundRect">
            <a:avLst>
              <a:gd name="adj" fmla="val 3636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9968" y="2606040"/>
            <a:ext cx="1097280" cy="1097280"/>
          </a:xfrm>
          <a:prstGeom prst="ellipse">
            <a:avLst/>
          </a:prstGeom>
          <a:solidFill>
            <a:srgbClr val="037E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5261" y="289133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8862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88720" y="434340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Secretaria e a TI revisam e aprovam o escopo do sistema.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72584" y="2194560"/>
            <a:ext cx="3511296" cy="3017520"/>
          </a:xfrm>
          <a:prstGeom prst="roundRect">
            <a:avLst>
              <a:gd name="adj" fmla="val 3636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79592" y="2606040"/>
            <a:ext cx="1097280" cy="1097280"/>
          </a:xfrm>
          <a:prstGeom prst="ellipse">
            <a:avLst/>
          </a:prstGeom>
          <a:solidFill>
            <a:srgbClr val="00A78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885" y="289133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46904" y="38862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038344" y="434340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 inicia a construção pela Fase 1, com entregas por etapa.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522208" y="2194560"/>
            <a:ext cx="3511296" cy="3017520"/>
          </a:xfrm>
          <a:prstGeom prst="roundRect">
            <a:avLst>
              <a:gd name="adj" fmla="val 3636"/>
            </a:avLst>
          </a:prstGeom>
          <a:solidFill>
            <a:srgbClr val="E9F5F3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729216" y="2606040"/>
            <a:ext cx="1097280" cy="1097280"/>
          </a:xfrm>
          <a:prstGeom prst="ellipse">
            <a:avLst/>
          </a:prstGeom>
          <a:solidFill>
            <a:srgbClr val="16C79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509" y="289133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96528" y="38862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887968" y="434340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das equipes antes da entrada em produção.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474720"/>
            <a:ext cx="4572000" cy="4572000"/>
          </a:xfrm>
          <a:prstGeom prst="ellipse">
            <a:avLst/>
          </a:prstGeom>
          <a:solidFill>
            <a:srgbClr val="037E8F">
              <a:alpha val="3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00A78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FE9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transporte de pacientes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organizado, seguro e humano.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SIGTRANS Saúde  ·  Secretaria Municipal de Saúde de Barão de Cocais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Tecnologia da Informação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2026-08-05T19:44:06Z</dcterms:created>
  <dcterms:modified xsi:type="dcterms:W3CDTF">2026-08-05T19:44:06Z</dcterms:modified>
</cp:coreProperties>
</file>