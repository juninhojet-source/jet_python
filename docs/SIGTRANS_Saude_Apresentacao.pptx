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Apresentar o projeto do sistema de transporte de pacientes desenvolvido pela própria TI da Prefeitura.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Situação atual: processo em papel, retrabalho, sem controle de lotação e fila sem senha. É a dor que o sistema resolve.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sistema em uma frase: web, único, do cadastro ao BPA. Quatro ganhos-chave: cadastro único, menos retrabalho, controle de lotação e rastreabilidade.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alvo: Senha, Cadastro, Agendamento, Cartão de Embarque, Lista do Dia, Embarque, Relatório do BPA. Cada etapa aproveita os dados da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Benefício concreto por perfil: atendente, coordenação e paciente. Todos ganham com a informatização.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Panorama dos módulos. O painel de senhas e o relatório do BPA são destaques pedidos pela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Tranquilizar sobre segurança: dados no servidor da Prefeitura, acesso controlado, auditoria, backup. Conformidade com a LGPD.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fases. O importante: valor cedo — na fase 2 o papel da marcação já é substituído.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Próximos passos: validar o escopo, iniciar o desenvolvimento pela Fase 1 e treinar as equipes.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Reforçar o propósito: um serviço mais organizado, seguro e humano para o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371600"/>
            <a:ext cx="4206240" cy="4206240"/>
          </a:xfrm>
          <a:prstGeom prst="ellipse">
            <a:avLst/>
          </a:prstGeom>
          <a:solidFill>
            <a:srgbClr val="037E8F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4206240"/>
            <a:ext cx="3291840" cy="3291840"/>
          </a:xfrm>
          <a:prstGeom prst="ellipse">
            <a:avLst/>
          </a:prstGeom>
          <a:solidFill>
            <a:srgbClr val="00A78E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4937760"/>
            <a:ext cx="2926080" cy="2926080"/>
          </a:xfrm>
          <a:prstGeom prst="ellipse">
            <a:avLst/>
          </a:prstGeom>
          <a:solidFill>
            <a:srgbClr val="16C79A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960120"/>
            <a:ext cx="841248" cy="841248"/>
          </a:xfrm>
          <a:prstGeom prst="ellipse">
            <a:avLst/>
          </a:prstGeom>
          <a:solidFill>
            <a:srgbClr val="16C79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684" y="1178844"/>
            <a:ext cx="403799" cy="4037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057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C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PREFEITURA MUNICIPAL DE BARÃO DE COCAIS · MG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246888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SIGTRANS Saúde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Gestão de Transporte de Pacientes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2296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do projeto — Secretaria Municipal de Saúde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A8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Diretoria de Tecnologia da Informação  ·  Agosto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16C79A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37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DE PARTIDA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 hoje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rotina de marcação do transporte é feita em papel, o que gera retrabalho e dificulta o controle.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2615184" cy="3291840"/>
          </a:xfrm>
          <a:prstGeom prst="roundRect">
            <a:avLst>
              <a:gd name="adj" fmla="val 4196"/>
            </a:avLst>
          </a:prstGeom>
          <a:solidFill>
            <a:srgbClr val="E9F5F3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000" y="2834640"/>
            <a:ext cx="822960" cy="822960"/>
          </a:xfrm>
          <a:prstGeom prst="ellipse">
            <a:avLst/>
          </a:prstGeom>
          <a:solidFill>
            <a:srgbClr val="037E8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6970" y="3048610"/>
            <a:ext cx="395021" cy="39502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3840480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no papel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97280" y="4343400"/>
            <a:ext cx="20665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 de marcação e cartão de embarque preenchidos à mão.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648456" y="2514600"/>
            <a:ext cx="2615184" cy="3291840"/>
          </a:xfrm>
          <a:prstGeom prst="roundRect">
            <a:avLst>
              <a:gd name="adj" fmla="val 4196"/>
            </a:avLst>
          </a:prstGeom>
          <a:solidFill>
            <a:srgbClr val="E9F5F3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968496" y="2834640"/>
            <a:ext cx="822960" cy="822960"/>
          </a:xfrm>
          <a:prstGeom prst="ellipse">
            <a:avLst/>
          </a:prstGeom>
          <a:solidFill>
            <a:srgbClr val="037E8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2466" y="3048610"/>
            <a:ext cx="395021" cy="39502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22776" y="3840480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Redigitação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922776" y="4343400"/>
            <a:ext cx="20665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dados são copiados várias vezes — inclusive para o BPA.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473952" y="2514600"/>
            <a:ext cx="2615184" cy="3291840"/>
          </a:xfrm>
          <a:prstGeom prst="roundRect">
            <a:avLst>
              <a:gd name="adj" fmla="val 4196"/>
            </a:avLst>
          </a:prstGeom>
          <a:solidFill>
            <a:srgbClr val="E9F5F3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793992" y="2834640"/>
            <a:ext cx="822960" cy="822960"/>
          </a:xfrm>
          <a:prstGeom prst="ellipse">
            <a:avLst/>
          </a:prstGeom>
          <a:solidFill>
            <a:srgbClr val="037E8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962" y="3048610"/>
            <a:ext cx="395021" cy="39502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48272" y="3840480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no papel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6748272" y="4343400"/>
            <a:ext cx="20665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Horários controlados à mão, sem organização por horário.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9299448" y="2514600"/>
            <a:ext cx="2615184" cy="3291840"/>
          </a:xfrm>
          <a:prstGeom prst="roundRect">
            <a:avLst>
              <a:gd name="adj" fmla="val 4196"/>
            </a:avLst>
          </a:prstGeom>
          <a:solidFill>
            <a:srgbClr val="E9F5F3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619488" y="2834640"/>
            <a:ext cx="822960" cy="822960"/>
          </a:xfrm>
          <a:prstGeom prst="ellipse">
            <a:avLst/>
          </a:prstGeom>
          <a:solidFill>
            <a:srgbClr val="037E8F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3458" y="3048610"/>
            <a:ext cx="395021" cy="395021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573768" y="3840480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sem organização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9573768" y="4343400"/>
            <a:ext cx="20665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por ordem de chegada, sem painel de senhas.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16C79A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37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o SIGTRANS Saúde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</a:t>
            </a:r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037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 único</a:t>
            </a:r>
            <a:pPr indent="0" marL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informatiza todo o transporte de pacientes — do cadastro ao relatório do BPA — em uma só ferramenta, acessada pelo navegador em computadores e tablets.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5568" y="3191256"/>
            <a:ext cx="457200" cy="457200"/>
          </a:xfrm>
          <a:prstGeom prst="ellipse">
            <a:avLst/>
          </a:prstGeom>
          <a:solidFill>
            <a:srgbClr val="16C79A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37360" y="3154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único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37360" y="3593592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paciente é cadastrado uma vez. O sistema evita duplicidade e já guarda os dados do BPA.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2880360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56248" y="3191256"/>
            <a:ext cx="457200" cy="457200"/>
          </a:xfrm>
          <a:prstGeom prst="ellipse">
            <a:avLst/>
          </a:prstGeom>
          <a:solidFill>
            <a:srgbClr val="16C79A"/>
          </a:solidFill>
          <a:ln/>
        </p:spPr>
      </p:sp>
      <p:sp>
        <p:nvSpPr>
          <p:cNvPr id="13" name="Text 11"/>
          <p:cNvSpPr/>
          <p:nvPr/>
        </p:nvSpPr>
        <p:spPr>
          <a:xfrm>
            <a:off x="6556248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178040" y="3154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retrabalho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78040" y="3593592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Preencheu uma vez, aproveita em todo lugar: cartão, lista do dia e relatórios.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" y="4736592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15568" y="5047488"/>
            <a:ext cx="457200" cy="457200"/>
          </a:xfrm>
          <a:prstGeom prst="ellipse">
            <a:avLst/>
          </a:prstGeom>
          <a:solidFill>
            <a:srgbClr val="16C79A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737360" y="50109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organizada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737360" y="544982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Atendimentos por horário, das 06:00 às 16:30, de segunda a sexta, em ordem.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63640" y="4736592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56248" y="5047488"/>
            <a:ext cx="457200" cy="457200"/>
          </a:xfrm>
          <a:prstGeom prst="ellipse">
            <a:avLst/>
          </a:prstGeom>
          <a:solidFill>
            <a:srgbClr val="16C79A"/>
          </a:solidFill>
          <a:ln/>
        </p:spPr>
      </p:sp>
      <p:sp>
        <p:nvSpPr>
          <p:cNvPr id="23" name="Text 21"/>
          <p:cNvSpPr/>
          <p:nvPr/>
        </p:nvSpPr>
        <p:spPr>
          <a:xfrm>
            <a:off x="6556248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178040" y="50109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registrado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78040" y="544982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tudo o que foi feito, por quem e quando — com segurança e conformidade à LGPD.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16C79A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37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vai funcionar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fluxo simples e contínuo, do atendimento até o relatório do BPA.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419279" y="3566160"/>
            <a:ext cx="9350393" cy="0"/>
          </a:xfrm>
          <a:prstGeom prst="line">
            <a:avLst/>
          </a:prstGeom>
          <a:noFill/>
          <a:ln w="25400">
            <a:solidFill>
              <a:srgbClr val="00A78E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916359" y="3063240"/>
            <a:ext cx="1005840" cy="1005840"/>
          </a:xfrm>
          <a:prstGeom prst="ellipse">
            <a:avLst/>
          </a:prstGeom>
          <a:solidFill>
            <a:srgbClr val="037E8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878" y="3324758"/>
            <a:ext cx="482803" cy="48280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70639" y="2898648"/>
            <a:ext cx="384048" cy="384048"/>
          </a:xfrm>
          <a:prstGeom prst="rect">
            <a:avLst/>
          </a:prstGeom>
          <a:solidFill>
            <a:srgbClr val="16C7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4206240"/>
            <a:ext cx="15583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4544568"/>
            <a:ext cx="15583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organizada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474758" y="3063240"/>
            <a:ext cx="1005840" cy="1005840"/>
          </a:xfrm>
          <a:prstGeom prst="ellipse">
            <a:avLst/>
          </a:prstGeom>
          <a:solidFill>
            <a:srgbClr val="00A78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277" y="3324758"/>
            <a:ext cx="482803" cy="48280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429038" y="2898648"/>
            <a:ext cx="384048" cy="384048"/>
          </a:xfrm>
          <a:prstGeom prst="rect">
            <a:avLst/>
          </a:prstGeom>
          <a:solidFill>
            <a:srgbClr val="16C7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198479" y="4206240"/>
            <a:ext cx="15583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2198479" y="4544568"/>
            <a:ext cx="15583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 único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033157" y="3063240"/>
            <a:ext cx="1005840" cy="1005840"/>
          </a:xfrm>
          <a:prstGeom prst="ellipse">
            <a:avLst/>
          </a:prstGeom>
          <a:solidFill>
            <a:srgbClr val="037E8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4676" y="3324758"/>
            <a:ext cx="482803" cy="4828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987437" y="2898648"/>
            <a:ext cx="384048" cy="384048"/>
          </a:xfrm>
          <a:prstGeom prst="rect">
            <a:avLst/>
          </a:prstGeom>
          <a:solidFill>
            <a:srgbClr val="16C7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3756878" y="4206240"/>
            <a:ext cx="15583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3756878" y="4544568"/>
            <a:ext cx="15583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Horário na agenda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591556" y="3063240"/>
            <a:ext cx="1005840" cy="1005840"/>
          </a:xfrm>
          <a:prstGeom prst="ellipse">
            <a:avLst/>
          </a:prstGeom>
          <a:solidFill>
            <a:srgbClr val="00A78E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074" y="3324758"/>
            <a:ext cx="482803" cy="48280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45836" y="2898648"/>
            <a:ext cx="384048" cy="384048"/>
          </a:xfrm>
          <a:prstGeom prst="rect">
            <a:avLst/>
          </a:prstGeom>
          <a:solidFill>
            <a:srgbClr val="16C7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315277" y="4206240"/>
            <a:ext cx="15583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5315277" y="4544568"/>
            <a:ext cx="15583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na hora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7149955" y="3063240"/>
            <a:ext cx="1005840" cy="1005840"/>
          </a:xfrm>
          <a:prstGeom prst="ellipse">
            <a:avLst/>
          </a:prstGeom>
          <a:solidFill>
            <a:srgbClr val="037E8F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1473" y="3324758"/>
            <a:ext cx="482803" cy="48280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104235" y="2898648"/>
            <a:ext cx="384048" cy="384048"/>
          </a:xfrm>
          <a:prstGeom prst="rect">
            <a:avLst/>
          </a:prstGeom>
          <a:solidFill>
            <a:srgbClr val="16C7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6873675" y="4206240"/>
            <a:ext cx="15583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do dia</a:t>
            </a:r>
            <a:endParaRPr lang="en-US" sz="1400" dirty="0"/>
          </a:p>
        </p:txBody>
      </p:sp>
      <p:sp>
        <p:nvSpPr>
          <p:cNvPr id="31" name="Text 24"/>
          <p:cNvSpPr/>
          <p:nvPr/>
        </p:nvSpPr>
        <p:spPr>
          <a:xfrm>
            <a:off x="6873675" y="4544568"/>
            <a:ext cx="15583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 por horário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708354" y="3063240"/>
            <a:ext cx="1005840" cy="1005840"/>
          </a:xfrm>
          <a:prstGeom prst="ellipse">
            <a:avLst/>
          </a:prstGeom>
          <a:solidFill>
            <a:srgbClr val="00A78E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9872" y="3324758"/>
            <a:ext cx="482803" cy="48280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662634" y="2898648"/>
            <a:ext cx="384048" cy="384048"/>
          </a:xfrm>
          <a:prstGeom prst="rect">
            <a:avLst/>
          </a:prstGeom>
          <a:solidFill>
            <a:srgbClr val="16C7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8432074" y="4206240"/>
            <a:ext cx="15583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Embarque</a:t>
            </a:r>
            <a:endParaRPr lang="en-US" sz="1400" dirty="0"/>
          </a:p>
        </p:txBody>
      </p:sp>
      <p:sp>
        <p:nvSpPr>
          <p:cNvPr id="36" name="Text 28"/>
          <p:cNvSpPr/>
          <p:nvPr/>
        </p:nvSpPr>
        <p:spPr>
          <a:xfrm>
            <a:off x="8432074" y="4544568"/>
            <a:ext cx="15583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e horários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10266753" y="3063240"/>
            <a:ext cx="1005840" cy="1005840"/>
          </a:xfrm>
          <a:prstGeom prst="ellipse">
            <a:avLst/>
          </a:prstGeom>
          <a:solidFill>
            <a:srgbClr val="037E8F"/>
          </a:solidFill>
          <a:ln/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28271" y="3324758"/>
            <a:ext cx="482803" cy="482803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0221033" y="2898648"/>
            <a:ext cx="384048" cy="384048"/>
          </a:xfrm>
          <a:prstGeom prst="rect">
            <a:avLst/>
          </a:prstGeom>
          <a:solidFill>
            <a:srgbClr val="16C7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1"/>
          <p:cNvSpPr/>
          <p:nvPr/>
        </p:nvSpPr>
        <p:spPr>
          <a:xfrm>
            <a:off x="9990473" y="4206240"/>
            <a:ext cx="15583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BPA</a:t>
            </a:r>
            <a:endParaRPr lang="en-US" sz="1400" dirty="0"/>
          </a:p>
        </p:txBody>
      </p:sp>
      <p:sp>
        <p:nvSpPr>
          <p:cNvPr id="41" name="Text 32"/>
          <p:cNvSpPr/>
          <p:nvPr/>
        </p:nvSpPr>
        <p:spPr>
          <a:xfrm>
            <a:off x="9990473" y="4544568"/>
            <a:ext cx="15583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digitar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16C79A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37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no dia a dia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3511296" cy="3063240"/>
          </a:xfrm>
          <a:prstGeom prst="roundRect">
            <a:avLst>
              <a:gd name="adj" fmla="val 3582"/>
            </a:avLst>
          </a:prstGeom>
          <a:solidFill>
            <a:srgbClr val="E9F5F3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29968" y="2606040"/>
            <a:ext cx="1097280" cy="1097280"/>
          </a:xfrm>
          <a:prstGeom prst="ellipse">
            <a:avLst/>
          </a:prstGeom>
          <a:solidFill>
            <a:srgbClr val="037E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889504"/>
            <a:ext cx="530352" cy="5303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388620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Atendente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188720" y="4389120"/>
            <a:ext cx="2779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Cadastra e agenda em uma só tela e emite o cartão de embarque com um clique.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672584" y="2194560"/>
            <a:ext cx="3511296" cy="3063240"/>
          </a:xfrm>
          <a:prstGeom prst="roundRect">
            <a:avLst>
              <a:gd name="adj" fmla="val 3582"/>
            </a:avLst>
          </a:prstGeom>
          <a:solidFill>
            <a:srgbClr val="E9F5F3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879592" y="2606040"/>
            <a:ext cx="1097280" cy="1097280"/>
          </a:xfrm>
          <a:prstGeom prst="ellipse">
            <a:avLst/>
          </a:prstGeom>
          <a:solidFill>
            <a:srgbClr val="00A78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6" y="2889504"/>
            <a:ext cx="530352" cy="5303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946904" y="388620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Coordenação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5038344" y="4389120"/>
            <a:ext cx="2779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Enxerga a agenda do dia, a ocupação e as faltas; extrai relatórios prontos.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522208" y="2194560"/>
            <a:ext cx="3511296" cy="3063240"/>
          </a:xfrm>
          <a:prstGeom prst="roundRect">
            <a:avLst>
              <a:gd name="adj" fmla="val 3582"/>
            </a:avLst>
          </a:prstGeom>
          <a:solidFill>
            <a:srgbClr val="E9F5F3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729216" y="2606040"/>
            <a:ext cx="1097280" cy="1097280"/>
          </a:xfrm>
          <a:prstGeom prst="ellipse">
            <a:avLst/>
          </a:prstGeom>
          <a:solidFill>
            <a:srgbClr val="16C79A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2889504"/>
            <a:ext cx="530352" cy="53035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796528" y="388620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887968" y="4389120"/>
            <a:ext cx="2779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um cartão claro, com orientação de confirmação da viagem.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16C79A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37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Principais recursos do sistema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2615184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27632" y="2286000"/>
            <a:ext cx="1005840" cy="1005840"/>
          </a:xfrm>
          <a:prstGeom prst="ellipse">
            <a:avLst/>
          </a:prstGeom>
          <a:solidFill>
            <a:srgbClr val="D6ECE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150" y="2547518"/>
            <a:ext cx="482803" cy="482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333756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pacientes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648456" y="1965960"/>
            <a:ext cx="2615184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53128" y="2286000"/>
            <a:ext cx="1005840" cy="1005840"/>
          </a:xfrm>
          <a:prstGeom prst="ellipse">
            <a:avLst/>
          </a:prstGeom>
          <a:solidFill>
            <a:srgbClr val="D6ECE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2547518"/>
            <a:ext cx="482803" cy="482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31336" y="333756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horários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473952" y="1965960"/>
            <a:ext cx="2615184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278624" y="2286000"/>
            <a:ext cx="1005840" cy="1005840"/>
          </a:xfrm>
          <a:prstGeom prst="ellipse">
            <a:avLst/>
          </a:prstGeom>
          <a:solidFill>
            <a:srgbClr val="D6ECEA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142" y="2547518"/>
            <a:ext cx="482803" cy="48280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656832" y="333756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9299448" y="1965960"/>
            <a:ext cx="2615184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10104120" y="2286000"/>
            <a:ext cx="1005840" cy="1005840"/>
          </a:xfrm>
          <a:prstGeom prst="ellipse">
            <a:avLst/>
          </a:prstGeom>
          <a:solidFill>
            <a:srgbClr val="D6ECEA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5638" y="2547518"/>
            <a:ext cx="482803" cy="482803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482328" y="333756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do dia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822960" y="4142232"/>
            <a:ext cx="2615184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1627632" y="4462272"/>
            <a:ext cx="1005840" cy="1005840"/>
          </a:xfrm>
          <a:prstGeom prst="ellipse">
            <a:avLst/>
          </a:prstGeom>
          <a:solidFill>
            <a:srgbClr val="D6ECEA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9150" y="4723790"/>
            <a:ext cx="482803" cy="48280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05840" y="5513832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senhas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3648456" y="4142232"/>
            <a:ext cx="2615184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53128" y="4462272"/>
            <a:ext cx="1005840" cy="1005840"/>
          </a:xfrm>
          <a:prstGeom prst="ellipse">
            <a:avLst/>
          </a:prstGeom>
          <a:solidFill>
            <a:srgbClr val="D6ECEA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4646" y="4723790"/>
            <a:ext cx="482803" cy="482803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831336" y="5513832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 e relatórios (PDF/Excel)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6473952" y="4142232"/>
            <a:ext cx="2615184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7278624" y="4462272"/>
            <a:ext cx="1005840" cy="1005840"/>
          </a:xfrm>
          <a:prstGeom prst="ellipse">
            <a:avLst/>
          </a:prstGeom>
          <a:solidFill>
            <a:srgbClr val="D6ECEA"/>
          </a:solidFill>
          <a:ln/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0142" y="4723790"/>
            <a:ext cx="482803" cy="482803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6656832" y="5513832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rápida</a:t>
            </a:r>
            <a:endParaRPr lang="en-US" sz="1400" dirty="0"/>
          </a:p>
        </p:txBody>
      </p:sp>
      <p:sp>
        <p:nvSpPr>
          <p:cNvPr id="33" name="Shape 24"/>
          <p:cNvSpPr/>
          <p:nvPr/>
        </p:nvSpPr>
        <p:spPr>
          <a:xfrm>
            <a:off x="9299448" y="4142232"/>
            <a:ext cx="2615184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10104120" y="4462272"/>
            <a:ext cx="1005840" cy="1005840"/>
          </a:xfrm>
          <a:prstGeom prst="ellipse">
            <a:avLst/>
          </a:prstGeom>
          <a:solidFill>
            <a:srgbClr val="D6ECEA"/>
          </a:solidFill>
          <a:ln/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65638" y="4723790"/>
            <a:ext cx="482803" cy="482803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9482328" y="5513832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indicadores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16C79A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37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CONFIANÇA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Segurança e proteção de dados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de saúde são sensíveis. O sistema é construído em conformidade com a LGPD.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06040"/>
            <a:ext cx="2615184" cy="3108960"/>
          </a:xfrm>
          <a:prstGeom prst="roundRect">
            <a:avLst>
              <a:gd name="adj" fmla="val 4196"/>
            </a:avLst>
          </a:prstGeom>
          <a:solidFill>
            <a:srgbClr val="0C3A45"/>
          </a:solidFill>
          <a:ln w="12700">
            <a:solidFill>
              <a:srgbClr val="1451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000" y="2926080"/>
            <a:ext cx="822960" cy="822960"/>
          </a:xfrm>
          <a:prstGeom prst="ellipse">
            <a:avLst/>
          </a:prstGeom>
          <a:solidFill>
            <a:srgbClr val="037E8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6970" y="3140050"/>
            <a:ext cx="395021" cy="39502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388620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da Prefeitura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097280" y="4480560"/>
            <a:ext cx="20665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FCF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ficam no datacenter do município — sem nuvem pública.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648456" y="2606040"/>
            <a:ext cx="2615184" cy="3108960"/>
          </a:xfrm>
          <a:prstGeom prst="roundRect">
            <a:avLst>
              <a:gd name="adj" fmla="val 4196"/>
            </a:avLst>
          </a:prstGeom>
          <a:solidFill>
            <a:srgbClr val="0C3A45"/>
          </a:solidFill>
          <a:ln w="12700">
            <a:solidFill>
              <a:srgbClr val="1451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968496" y="2926080"/>
            <a:ext cx="822960" cy="822960"/>
          </a:xfrm>
          <a:prstGeom prst="ellipse">
            <a:avLst/>
          </a:prstGeom>
          <a:solidFill>
            <a:srgbClr val="00A78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2466" y="3140050"/>
            <a:ext cx="395021" cy="39502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22776" y="388620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controlado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3922776" y="4480560"/>
            <a:ext cx="20665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FCF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individual e permissão por perfil; senhas sempre criptografadas.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473952" y="2606040"/>
            <a:ext cx="2615184" cy="3108960"/>
          </a:xfrm>
          <a:prstGeom prst="roundRect">
            <a:avLst>
              <a:gd name="adj" fmla="val 4196"/>
            </a:avLst>
          </a:prstGeom>
          <a:solidFill>
            <a:srgbClr val="0C3A45"/>
          </a:solidFill>
          <a:ln w="12700">
            <a:solidFill>
              <a:srgbClr val="1451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793992" y="2926080"/>
            <a:ext cx="822960" cy="822960"/>
          </a:xfrm>
          <a:prstGeom prst="ellipse">
            <a:avLst/>
          </a:prstGeom>
          <a:solidFill>
            <a:srgbClr val="037E8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962" y="3140050"/>
            <a:ext cx="395021" cy="39502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48272" y="388620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completa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6748272" y="4480560"/>
            <a:ext cx="20665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FCF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quem fez o quê e quando, com valor anterior e novo.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9299448" y="2606040"/>
            <a:ext cx="2615184" cy="3108960"/>
          </a:xfrm>
          <a:prstGeom prst="roundRect">
            <a:avLst>
              <a:gd name="adj" fmla="val 4196"/>
            </a:avLst>
          </a:prstGeom>
          <a:solidFill>
            <a:srgbClr val="0C3A45"/>
          </a:solidFill>
          <a:ln w="12700">
            <a:solidFill>
              <a:srgbClr val="14515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619488" y="2926080"/>
            <a:ext cx="822960" cy="822960"/>
          </a:xfrm>
          <a:prstGeom prst="ellipse">
            <a:avLst/>
          </a:prstGeom>
          <a:solidFill>
            <a:srgbClr val="00A78E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3458" y="3140050"/>
            <a:ext cx="395021" cy="395021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573768" y="388620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e continuidade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9573768" y="4480560"/>
            <a:ext cx="20665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FCF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Cópias de segurança automáticas e restauração quando necessário.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16C79A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37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DE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vamos construir — por etapas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Entregas em fases, com valor prático já nas primeiras etapas.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877263" y="3291840"/>
            <a:ext cx="8434426" cy="0"/>
          </a:xfrm>
          <a:prstGeom prst="line">
            <a:avLst/>
          </a:prstGeom>
          <a:noFill/>
          <a:ln w="25400">
            <a:solidFill>
              <a:srgbClr val="CFE3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20063" y="2834640"/>
            <a:ext cx="914400" cy="914400"/>
          </a:xfrm>
          <a:prstGeom prst="ellipse">
            <a:avLst/>
          </a:prstGeom>
          <a:solidFill>
            <a:srgbClr val="037E8F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20063" y="28346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3931920"/>
            <a:ext cx="19257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Fundação e cadastros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932688" y="4526280"/>
            <a:ext cx="188915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Pacientes, destinos e acessos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528670" y="2834640"/>
            <a:ext cx="914400" cy="914400"/>
          </a:xfrm>
          <a:prstGeom prst="ellipse">
            <a:avLst/>
          </a:prstGeom>
          <a:solidFill>
            <a:srgbClr val="037E8F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8670" y="28346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023006" y="3931920"/>
            <a:ext cx="19257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operacional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041294" y="4526280"/>
            <a:ext cx="188915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por horário, cartão e lista do dia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37276" y="2834640"/>
            <a:ext cx="914400" cy="914400"/>
          </a:xfrm>
          <a:prstGeom prst="ellipse">
            <a:avLst/>
          </a:prstGeom>
          <a:solidFill>
            <a:srgbClr val="00A78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37276" y="28346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131613" y="3931920"/>
            <a:ext cx="19257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senhas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149901" y="4526280"/>
            <a:ext cx="188915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organizada e painel de TV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45882" y="2834640"/>
            <a:ext cx="914400" cy="914400"/>
          </a:xfrm>
          <a:prstGeom prst="ellipse">
            <a:avLst/>
          </a:prstGeom>
          <a:solidFill>
            <a:srgbClr val="00A78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45882" y="28346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7240219" y="3931920"/>
            <a:ext cx="19257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 e painel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258507" y="4526280"/>
            <a:ext cx="188915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BPA, pesquisa e indicadores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854489" y="2834640"/>
            <a:ext cx="914400" cy="914400"/>
          </a:xfrm>
          <a:prstGeom prst="ellipse">
            <a:avLst/>
          </a:prstGeom>
          <a:solidFill>
            <a:srgbClr val="00A78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54489" y="28346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348826" y="3931920"/>
            <a:ext cx="19257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treinamento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367114" y="4526280"/>
            <a:ext cx="188915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LGPD, backup e capacitação da equipe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194560" y="5806440"/>
            <a:ext cx="7772400" cy="566928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0" y="58064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37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Marco: </a:t>
            </a:r>
            <a:pPr algn="ctr" indent="0" marL="0">
              <a:buNone/>
            </a:pPr>
            <a:r>
              <a:rPr lang="en-US" sz="13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fim da Fase 2, o dia a dia já roda no sistema — sem papel na marcação.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16C79A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37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AGORA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3511296" cy="3017520"/>
          </a:xfrm>
          <a:prstGeom prst="roundRect">
            <a:avLst>
              <a:gd name="adj" fmla="val 3636"/>
            </a:avLst>
          </a:prstGeom>
          <a:solidFill>
            <a:srgbClr val="E9F5F3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29968" y="2606040"/>
            <a:ext cx="1097280" cy="1097280"/>
          </a:xfrm>
          <a:prstGeom prst="ellipse">
            <a:avLst/>
          </a:prstGeom>
          <a:solidFill>
            <a:srgbClr val="037E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5261" y="2891333"/>
            <a:ext cx="526694" cy="52669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388620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188720" y="4343400"/>
            <a:ext cx="2779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Secretaria e a TI revisam e aprovam o escopo do sistema.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672584" y="2194560"/>
            <a:ext cx="3511296" cy="3017520"/>
          </a:xfrm>
          <a:prstGeom prst="roundRect">
            <a:avLst>
              <a:gd name="adj" fmla="val 3636"/>
            </a:avLst>
          </a:prstGeom>
          <a:solidFill>
            <a:srgbClr val="E9F5F3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879592" y="2606040"/>
            <a:ext cx="1097280" cy="1097280"/>
          </a:xfrm>
          <a:prstGeom prst="ellipse">
            <a:avLst/>
          </a:prstGeom>
          <a:solidFill>
            <a:srgbClr val="00A78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4885" y="2891333"/>
            <a:ext cx="526694" cy="52669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946904" y="388620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5038344" y="4343400"/>
            <a:ext cx="2779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 inicia a construção pela Fase 1, com entregas por etapa.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522208" y="2194560"/>
            <a:ext cx="3511296" cy="3017520"/>
          </a:xfrm>
          <a:prstGeom prst="roundRect">
            <a:avLst>
              <a:gd name="adj" fmla="val 3636"/>
            </a:avLst>
          </a:prstGeom>
          <a:solidFill>
            <a:srgbClr val="E9F5F3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729216" y="2606040"/>
            <a:ext cx="1097280" cy="1097280"/>
          </a:xfrm>
          <a:prstGeom prst="ellipse">
            <a:avLst/>
          </a:prstGeom>
          <a:solidFill>
            <a:srgbClr val="16C79A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4509" y="2891333"/>
            <a:ext cx="526694" cy="52669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796528" y="388620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887968" y="4343400"/>
            <a:ext cx="2779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C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Capacitação das equipes antes da entrada em produção.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3474720"/>
            <a:ext cx="4572000" cy="4572000"/>
          </a:xfrm>
          <a:prstGeom prst="ellipse">
            <a:avLst/>
          </a:prstGeom>
          <a:solidFill>
            <a:srgbClr val="037E8F">
              <a:alpha val="3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3291840" cy="3291840"/>
          </a:xfrm>
          <a:prstGeom prst="ellipse">
            <a:avLst/>
          </a:prstGeom>
          <a:solidFill>
            <a:srgbClr val="00A78E">
              <a:alpha val="2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2860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FE9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transporte de pacientes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8803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mais organizado, seguro e humano.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SIGTRANS Saúde  ·  Secretaria Municipal de Saúde de Barão de Cocais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A8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Diretoria de Tecnologia da Informação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2026-08-06T13:41:34Z</dcterms:created>
  <dcterms:modified xsi:type="dcterms:W3CDTF">2026-08-06T13:41:34Z</dcterms:modified>
</cp:coreProperties>
</file>